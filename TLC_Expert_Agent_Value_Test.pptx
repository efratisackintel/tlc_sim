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Slide 1 - The simple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2296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97A"/>
                </a:solidFill>
                <a:latin typeface="Aptos"/>
              </a:rPr>
              <a:t>Fair setup: same prompt, same model family, same workspace sources, read-only; only the TLC-specific agent instructions differed.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1201400" cy="1051560"/>
          </a:xfrm>
          <a:prstGeom prst="roundRect">
            <a:avLst/>
          </a:prstGeom>
          <a:solidFill>
            <a:srgbClr val="E8F3FC"/>
          </a:solidFill>
          <a:ln w="1397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1C5"/>
                </a:solidFill>
                <a:latin typeface="Aptos"/>
              </a:rPr>
              <a:t>Test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82496"/>
            <a:ext cx="106984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C2026"/>
                </a:solidFill>
                <a:latin typeface="Aptos"/>
              </a:rPr>
              <a:t>Should we add a simulator feature for TPC 2025 PBO-as-rate-scaling? Include feature, sources, dependencies, dev time, prompt iterations, tradeoffs, and solution quality.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53F"/>
                </a:solidFill>
                <a:latin typeface="Aptos"/>
              </a:rPr>
              <a:t>Why this test is representative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0071C5"/>
                </a:solidFill>
                <a:latin typeface="Aptos"/>
              </a:rPr>
              <a:t>- </a:t>
            </a:r>
            <a:r>
              <a:rPr sz="1250">
                <a:solidFill>
                  <a:srgbClr val="1C2026"/>
                </a:solidFill>
                <a:latin typeface="Aptos"/>
              </a:rPr>
              <a:t>Requires code + JIRA requirement interpretation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71C5"/>
                </a:solidFill>
                <a:latin typeface="Aptos"/>
              </a:rPr>
              <a:t>- </a:t>
            </a:r>
            <a:r>
              <a:rPr sz="1250">
                <a:solidFill>
                  <a:srgbClr val="1C2026"/>
                </a:solidFill>
                <a:latin typeface="Aptos"/>
              </a:rPr>
              <a:t>Needs tradeoff analysis, not just a summary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71C5"/>
                </a:solidFill>
                <a:latin typeface="Aptos"/>
              </a:rPr>
              <a:t>- </a:t>
            </a:r>
            <a:r>
              <a:rPr sz="1250">
                <a:solidFill>
                  <a:srgbClr val="1C2026"/>
                </a:solidFill>
                <a:latin typeface="Aptos"/>
              </a:rPr>
              <a:t>Has a real simulator gap: TPC 2025 PBO-as-rate-scaling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06040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53F"/>
                </a:solidFill>
                <a:latin typeface="Aptos"/>
              </a:rPr>
              <a:t>Scoring dimensions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971800"/>
            <a:ext cx="3063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CA0BE"/>
                </a:solidFill>
                <a:latin typeface="Aptos"/>
              </a:rPr>
              <a:t>- </a:t>
            </a:r>
            <a:r>
              <a:rPr sz="1250">
                <a:solidFill>
                  <a:srgbClr val="1C2026"/>
                </a:solidFill>
                <a:latin typeface="Aptos"/>
              </a:rPr>
              <a:t>Actionability of proposed feature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CA0BE"/>
                </a:solidFill>
                <a:latin typeface="Aptos"/>
              </a:rPr>
              <a:t>- </a:t>
            </a:r>
            <a:r>
              <a:rPr sz="1250">
                <a:solidFill>
                  <a:srgbClr val="1C2026"/>
                </a:solidFill>
                <a:latin typeface="Aptos"/>
              </a:rPr>
              <a:t>Correct dependencies and source grounding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CA0BE"/>
                </a:solidFill>
                <a:latin typeface="Aptos"/>
              </a:rPr>
              <a:t>- </a:t>
            </a:r>
            <a:r>
              <a:rPr sz="1250">
                <a:solidFill>
                  <a:srgbClr val="1C2026"/>
                </a:solidFill>
                <a:latin typeface="Aptos"/>
              </a:rPr>
              <a:t>Tradeoff clarity and uncertainty handling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CA0BE"/>
                </a:solidFill>
                <a:latin typeface="Aptos"/>
              </a:rPr>
              <a:t>- </a:t>
            </a:r>
            <a:r>
              <a:rPr sz="1250">
                <a:solidFill>
                  <a:srgbClr val="1C2026"/>
                </a:solidFill>
                <a:latin typeface="Aptos"/>
              </a:rPr>
              <a:t>Expected prompt iterations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606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253F"/>
                </a:solidFill>
                <a:latin typeface="Aptos"/>
              </a:rPr>
              <a:t>Important fairness note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971800"/>
            <a:ext cx="3246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E2892D"/>
                </a:solidFill>
                <a:latin typeface="Aptos"/>
              </a:rPr>
              <a:t>- </a:t>
            </a:r>
            <a:r>
              <a:rPr sz="1250">
                <a:solidFill>
                  <a:srgbClr val="1C2026"/>
                </a:solidFill>
                <a:latin typeface="Aptos"/>
              </a:rPr>
              <a:t>This is not a token benchmark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E2892D"/>
                </a:solidFill>
                <a:latin typeface="Aptos"/>
              </a:rPr>
              <a:t>- </a:t>
            </a:r>
            <a:r>
              <a:rPr sz="1250">
                <a:solidFill>
                  <a:srgbClr val="1C2026"/>
                </a:solidFill>
                <a:latin typeface="Aptos"/>
              </a:rPr>
              <a:t>Both answers used current repo evidence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E2892D"/>
                </a:solidFill>
                <a:latin typeface="Aptos"/>
              </a:rPr>
              <a:t>- </a:t>
            </a:r>
            <a:r>
              <a:rPr sz="1250">
                <a:solidFill>
                  <a:srgbClr val="1C2026"/>
                </a:solidFill>
                <a:latin typeface="Aptos"/>
              </a:rPr>
              <a:t>The metric is manager value: faster path to a usable engineering 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983480"/>
            <a:ext cx="2286000" cy="749808"/>
          </a:xfrm>
          <a:prstGeom prst="roundRect">
            <a:avLst/>
          </a:prstGeom>
          <a:solidFill>
            <a:srgbClr val="E8F3FC"/>
          </a:solidFill>
          <a:ln w="1397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5065776"/>
            <a:ext cx="206654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C697A"/>
                </a:solidFill>
                <a:latin typeface="Aptos"/>
              </a:rPr>
              <a:t>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5285232"/>
            <a:ext cx="206654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71C5"/>
                </a:solidFill>
                <a:latin typeface="Aptos"/>
              </a:rPr>
              <a:t>same 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983480"/>
            <a:ext cx="2286000" cy="749808"/>
          </a:xfrm>
          <a:prstGeom prst="roundRect">
            <a:avLst/>
          </a:prstGeom>
          <a:solidFill>
            <a:srgbClr val="E8F6EF"/>
          </a:solidFill>
          <a:ln w="13970">
            <a:solidFill>
              <a:srgbClr val="2B84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67328" y="5065776"/>
            <a:ext cx="206654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C697A"/>
                </a:solidFill>
                <a:latin typeface="Aptos"/>
              </a:rPr>
              <a:t>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5285232"/>
            <a:ext cx="206654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B845A"/>
                </a:solidFill>
                <a:latin typeface="Aptos"/>
              </a:rPr>
              <a:t>same prompt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983480"/>
            <a:ext cx="2286000" cy="749808"/>
          </a:xfrm>
          <a:prstGeom prst="roundRect">
            <a:avLst/>
          </a:prstGeom>
          <a:solidFill>
            <a:srgbClr val="FDF2E0"/>
          </a:solidFill>
          <a:ln w="13970">
            <a:solidFill>
              <a:srgbClr val="E289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5065776"/>
            <a:ext cx="206654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C697A"/>
                </a:solidFill>
                <a:latin typeface="Aptos"/>
              </a:rPr>
              <a:t>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5285232"/>
            <a:ext cx="206654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2892D"/>
                </a:solidFill>
                <a:latin typeface="Aptos"/>
              </a:rPr>
              <a:t>read-only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983480"/>
            <a:ext cx="2286000" cy="749808"/>
          </a:xfrm>
          <a:prstGeom prst="roundRect">
            <a:avLst/>
          </a:prstGeom>
          <a:solidFill>
            <a:srgbClr val="F0F6FA"/>
          </a:solidFill>
          <a:ln w="13970">
            <a:solidFill>
              <a:srgbClr val="1425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5065776"/>
            <a:ext cx="2066543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5C697A"/>
                </a:solidFill>
                <a:latin typeface="Aptos"/>
              </a:rPr>
              <a:t>Difference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5285232"/>
            <a:ext cx="206654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253F"/>
                </a:solidFill>
                <a:latin typeface="Aptos"/>
              </a:rPr>
              <a:t>agent knowledge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7220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97A"/>
                </a:solidFill>
                <a:latin typeface="Aptos"/>
              </a:rPr>
              <a:t>Source artifacts used in the test: TLC_SAS_Requirements.md, TLC_Hierarchy.md, README.md, tlcsim/tlc.py, tlcsim/per_model.py.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1143000"/>
            <a:ext cx="11201400" cy="1298448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1298448"/>
            <a:ext cx="10698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1C5"/>
                </a:solidFill>
                <a:latin typeface="Aptos"/>
              </a:rPr>
              <a:t>Exact benchmark prompt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1572768"/>
            <a:ext cx="106527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C2026"/>
                </a:solidFill>
                <a:latin typeface="Aptos"/>
              </a:rPr>
              <a:t>For the TLC_Sim project: Should we add a simulator feature for TPC 2025 PBO-as-rate-scaling? Include the proposed feature, sources used, likely dependencies, development-time estimate, likely prompt iterations, tradeoffs, and expected solution quality.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2249424"/>
            <a:ext cx="10607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C697A"/>
                </a:solidFill>
                <a:latin typeface="Aptos"/>
              </a:rPr>
              <a:t>Both agents received this same prompt; the TLC Expert only had the added TLC/WREQ/domain rules.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Slide 2 - Generic Copilot LLM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2296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97A"/>
                </a:solidFill>
                <a:latin typeface="Aptos"/>
              </a:rPr>
              <a:t>Result: useful high-level proposal, but the user still has to steer requirement layering, feature scope, and fidelity tradeoffs.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40680" cy="5074920"/>
          </a:xfrm>
          <a:prstGeom prst="roundRect">
            <a:avLst/>
          </a:prstGeom>
          <a:solidFill>
            <a:srgbClr val="FDF2E0"/>
          </a:solidFill>
          <a:ln w="13970">
            <a:solidFill>
              <a:srgbClr val="E289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53312"/>
            <a:ext cx="4892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2892D"/>
                </a:solidFill>
                <a:latin typeface="Aptos"/>
              </a:rPr>
              <a:t>What it produced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920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30" b="1">
                <a:solidFill>
                  <a:srgbClr val="E2892D"/>
                </a:solidFill>
                <a:latin typeface="Aptos"/>
              </a:rPr>
              <a:t>- </a:t>
            </a:r>
            <a:r>
              <a:rPr sz="1230">
                <a:solidFill>
                  <a:srgbClr val="1C2026"/>
                </a:solidFill>
                <a:latin typeface="Aptos"/>
              </a:rPr>
              <a:t>Recommended adding TPC 2025 PBO-as-rate-scaling</a:t>
            </a:r>
          </a:p>
          <a:p>
            <a:pPr>
              <a:spcAft>
                <a:spcPts val="400"/>
              </a:spcAft>
            </a:pPr>
            <a:r>
              <a:rPr sz="1230" b="1">
                <a:solidFill>
                  <a:srgbClr val="E2892D"/>
                </a:solidFill>
                <a:latin typeface="Aptos"/>
              </a:rPr>
              <a:t>- </a:t>
            </a:r>
            <a:r>
              <a:rPr sz="1230">
                <a:solidFill>
                  <a:srgbClr val="1C2026"/>
                </a:solidFill>
                <a:latin typeface="Aptos"/>
              </a:rPr>
              <a:t>Identified main sources: JIRA summary, hierarchy, tlcsim, README, PER model</a:t>
            </a:r>
          </a:p>
          <a:p>
            <a:pPr>
              <a:spcAft>
                <a:spcPts val="400"/>
              </a:spcAft>
            </a:pPr>
            <a:r>
              <a:rPr sz="1230" b="1">
                <a:solidFill>
                  <a:srgbClr val="E2892D"/>
                </a:solidFill>
                <a:latin typeface="Aptos"/>
              </a:rPr>
              <a:t>- </a:t>
            </a:r>
            <a:r>
              <a:rPr sz="1230">
                <a:solidFill>
                  <a:srgbClr val="1C2026"/>
                </a:solidFill>
                <a:latin typeface="Aptos"/>
              </a:rPr>
              <a:t>Named broad dependencies: ReferenceTLC, emulator, PER LUT, TAS/PBO signals</a:t>
            </a:r>
          </a:p>
          <a:p>
            <a:pPr>
              <a:spcAft>
                <a:spcPts val="400"/>
              </a:spcAft>
            </a:pPr>
            <a:r>
              <a:rPr sz="1230" b="1">
                <a:solidFill>
                  <a:srgbClr val="E2892D"/>
                </a:solidFill>
                <a:latin typeface="Aptos"/>
              </a:rPr>
              <a:t>- </a:t>
            </a:r>
            <a:r>
              <a:rPr sz="1230">
                <a:solidFill>
                  <a:srgbClr val="1C2026"/>
                </a:solidFill>
                <a:latin typeface="Aptos"/>
              </a:rPr>
              <a:t>Warned that quantitative fidelity depends on PER vs power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E4640"/>
                </a:solidFill>
                <a:latin typeface="Aptos"/>
              </a:rPr>
              <a:t>Observed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4892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BE4640"/>
                </a:solidFill>
                <a:latin typeface="Aptos"/>
              </a:rPr>
              <a:t>- </a:t>
            </a:r>
            <a:r>
              <a:rPr sz="1200">
                <a:solidFill>
                  <a:srgbClr val="1C2026"/>
                </a:solidFill>
                <a:latin typeface="Aptos"/>
              </a:rPr>
              <a:t>Development estimate was broad and unphased: 2-3 engineer-weeks plus possible 1-2 weeks data work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BE4640"/>
                </a:solidFill>
                <a:latin typeface="Aptos"/>
              </a:rPr>
              <a:t>- </a:t>
            </a:r>
            <a:r>
              <a:rPr sz="1200">
                <a:solidFill>
                  <a:srgbClr val="1C2026"/>
                </a:solidFill>
                <a:latin typeface="Aptos"/>
              </a:rPr>
              <a:t>Did not enforce code-over-JIRA conflict handling or silicon/delta-SAS precedence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5440680" cy="5074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417320"/>
            <a:ext cx="1417320" cy="402336"/>
          </a:xfrm>
          <a:prstGeom prst="rect">
            <a:avLst/>
          </a:prstGeom>
          <a:solidFill>
            <a:srgbClr val="14253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490472"/>
            <a:ext cx="12893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Dimension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417320"/>
            <a:ext cx="3749039" cy="402336"/>
          </a:xfrm>
          <a:prstGeom prst="rect">
            <a:avLst/>
          </a:prstGeom>
          <a:solidFill>
            <a:srgbClr val="14253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1490472"/>
            <a:ext cx="362102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Generic answer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819656"/>
            <a:ext cx="14173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892807"/>
            <a:ext cx="12893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2026"/>
                </a:solidFill>
                <a:latin typeface="Aptos"/>
              </a:rPr>
              <a:t>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819656"/>
            <a:ext cx="3749039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7848" y="1892807"/>
            <a:ext cx="362102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2026"/>
                </a:solidFill>
                <a:latin typeface="Aptos"/>
              </a:rPr>
              <a:t>Add TPC PBO logic, but described at broad architecture level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221992"/>
            <a:ext cx="14173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295144"/>
            <a:ext cx="12893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2026"/>
                </a:solidFill>
                <a:latin typeface="Aptos"/>
              </a:rPr>
              <a:t>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2221992"/>
            <a:ext cx="3749039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8" y="2295144"/>
            <a:ext cx="362102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2026"/>
                </a:solidFill>
                <a:latin typeface="Aptos"/>
              </a:rPr>
              <a:t>~2-3 engineer-weeks; +1-2 weeks if data is missing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624328"/>
            <a:ext cx="14173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697480"/>
            <a:ext cx="12893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2026"/>
                </a:solidFill>
                <a:latin typeface="Aptos"/>
              </a:rPr>
              <a:t>Dependencies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2624328"/>
            <a:ext cx="3749039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27848" y="2697480"/>
            <a:ext cx="362102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2026"/>
                </a:solidFill>
                <a:latin typeface="Aptos"/>
              </a:rPr>
              <a:t>ReferenceTLC, emulator, PER model/LUT, TVA data, tests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026664"/>
            <a:ext cx="14173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3099816"/>
            <a:ext cx="12893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2026"/>
                </a:solidFill>
                <a:latin typeface="Aptos"/>
              </a:rPr>
              <a:t>Prompt iterations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026664"/>
            <a:ext cx="3749039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7848" y="3099816"/>
            <a:ext cx="362102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2026"/>
                </a:solidFill>
                <a:latin typeface="Aptos"/>
              </a:rPr>
              <a:t>3-5 user iterations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3429000"/>
            <a:ext cx="14173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3502152"/>
            <a:ext cx="12893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2026"/>
                </a:solidFill>
                <a:latin typeface="Aptos"/>
              </a:rPr>
              <a:t>Quality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3429000"/>
            <a:ext cx="3749039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3502152"/>
            <a:ext cx="3621023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C2026"/>
                </a:solidFill>
                <a:latin typeface="Aptos"/>
              </a:rPr>
              <a:t>Good direction; needs expert follow-up to separate prototype vs production fidelity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440680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53F"/>
                </a:solidFill>
                <a:latin typeface="Aptos"/>
              </a:rPr>
              <a:t>Manager takeaway: generic Copilot can summarize and propose, but decision quality depends heavily on the user's domain steering.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Slide 3 - TLC Expert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2296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97A"/>
                </a:solidFill>
                <a:latin typeface="Aptos"/>
              </a:rPr>
              <a:t>Result: more manager-useful: concrete feature shape, phased delivery, explicit dependencies, and controlled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11201400" cy="941832"/>
          </a:xfrm>
          <a:prstGeom prst="roundRect">
            <a:avLst/>
          </a:prstGeom>
          <a:solidFill>
            <a:srgbClr val="E8F6EF"/>
          </a:solidFill>
          <a:ln w="13970">
            <a:solidFill>
              <a:srgbClr val="2B84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21615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B845A"/>
                </a:solidFill>
                <a:latin typeface="Aptos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813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C2026"/>
                </a:solidFill>
                <a:latin typeface="Aptos"/>
              </a:rPr>
              <a:t>Yes: add a TPC 2025 PBO-as-rate-scaling simulator feature, starting with an SNR-shift prototype and upgrading to measured PER-vs-PBO only if high-fidelity TvA/KPI matching is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1417320" cy="402336"/>
          </a:xfrm>
          <a:prstGeom prst="rect">
            <a:avLst/>
          </a:prstGeom>
          <a:solidFill>
            <a:srgbClr val="14253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13432"/>
            <a:ext cx="12893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Dimension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240280"/>
            <a:ext cx="4617720" cy="402336"/>
          </a:xfrm>
          <a:prstGeom prst="rect">
            <a:avLst/>
          </a:prstGeom>
          <a:solidFill>
            <a:srgbClr val="14253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5688" y="2313432"/>
            <a:ext cx="44897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TLC Expert answer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2240280"/>
            <a:ext cx="4800600" cy="402336"/>
          </a:xfrm>
          <a:prstGeom prst="rect">
            <a:avLst/>
          </a:prstGeom>
          <a:solidFill>
            <a:srgbClr val="14253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313432"/>
            <a:ext cx="46725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Added value vs generic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642616"/>
            <a:ext cx="14173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715768"/>
            <a:ext cx="12893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2642616"/>
            <a:ext cx="46177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75688" y="2715768"/>
            <a:ext cx="44897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Per-STA PBO state in ReferenceTLC; TPC_SEARCH/TPC_SETTLE; configurable SNR-shift or rate-cap mode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2642616"/>
            <a:ext cx="480060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2715768"/>
            <a:ext cx="46725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Turns idea into an implementable design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044952"/>
            <a:ext cx="14173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118104"/>
            <a:ext cx="12893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3044952"/>
            <a:ext cx="46177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75688" y="3118104"/>
            <a:ext cx="44897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Prototype 3-5 dev days; production-quality 2-3 weeks if no new lab curves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3044952"/>
            <a:ext cx="480060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8" y="3118104"/>
            <a:ext cx="46725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Separates quick learning from final fidelity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447288"/>
            <a:ext cx="14173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520440"/>
            <a:ext cx="12893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Dependencies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3447288"/>
            <a:ext cx="46177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3520440"/>
            <a:ext cx="44897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tlcsim/tlc.py, emulator.py, per_model.py/LUT metadata, harness/run_example knobs, unit/regression tests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3447288"/>
            <a:ext cx="480060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3520440"/>
            <a:ext cx="46725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Names files and integration points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3849624"/>
            <a:ext cx="14173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922776"/>
            <a:ext cx="12893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Prompt iterations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3849624"/>
            <a:ext cx="46177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75688" y="3922776"/>
            <a:ext cx="44897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2-4 iterations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400" y="3849624"/>
            <a:ext cx="480060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93408" y="3922776"/>
            <a:ext cx="46725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Less back-and-forth because constraints are embedded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4251960"/>
            <a:ext cx="14173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325112"/>
            <a:ext cx="12893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Quality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80" y="4251960"/>
            <a:ext cx="46177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75688" y="4325112"/>
            <a:ext cx="44897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Good qualitative model with SNR-shift; high quantitative quality only with PER-vs-PBO/EVM 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9400" y="4251960"/>
            <a:ext cx="480060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93408" y="4325112"/>
            <a:ext cx="46725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Clear tradeoff, no overclaim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4654296"/>
            <a:ext cx="14173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4727448"/>
            <a:ext cx="12893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Risk handling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4654296"/>
            <a:ext cx="461772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75688" y="4727448"/>
            <a:ext cx="44897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Flags missing measured PBO data and firmware exact mapping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9400" y="4654296"/>
            <a:ext cx="4800600" cy="402336"/>
          </a:xfrm>
          <a:prstGeom prst="rect">
            <a:avLst/>
          </a:prstGeom>
          <a:solidFill>
            <a:srgbClr val="FFFFFF"/>
          </a:solidFill>
          <a:ln w="1397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93408" y="4727448"/>
            <a:ext cx="46725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1C2026"/>
                </a:solidFill>
                <a:latin typeface="Aptos"/>
              </a:rPr>
              <a:t>Prevents false confidence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5715000"/>
            <a:ext cx="10972800" cy="713232"/>
          </a:xfrm>
          <a:prstGeom prst="roundRect">
            <a:avLst/>
          </a:prstGeom>
          <a:solidFill>
            <a:srgbClr val="E8F3FC"/>
          </a:solidFill>
          <a:ln w="1397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4253F"/>
                </a:solidFill>
                <a:latin typeface="Aptos"/>
              </a:rPr>
              <a:t>Core message to manager: the TLC Expert agent does not replace Copilot; it adds reusable engineering context so Copilot produces a grounded feature proposal in fewer iterations, with clearer dependencies, risks, and quality boundaries.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Slide 4 - Comparison: generic LLM vs TLC Expert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2296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C697A"/>
                </a:solidFill>
                <a:latin typeface="Aptos"/>
              </a:rPr>
              <a:t>Same test, same sources. Difference: the TLC Expert carries reusable domain rules, WREQ anchors, and code/JIRA conflict handling.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600200" cy="429768"/>
          </a:xfrm>
          <a:prstGeom prst="rect">
            <a:avLst/>
          </a:prstGeom>
          <a:solidFill>
            <a:srgbClr val="14253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94460"/>
            <a:ext cx="147218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325880"/>
            <a:ext cx="4892040" cy="429768"/>
          </a:xfrm>
          <a:prstGeom prst="rect">
            <a:avLst/>
          </a:prstGeom>
          <a:solidFill>
            <a:srgbClr val="14253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67127" y="1394460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Generic Copilot LLM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59" y="1325880"/>
            <a:ext cx="4892040" cy="429768"/>
          </a:xfrm>
          <a:prstGeom prst="rect">
            <a:avLst/>
          </a:prstGeom>
          <a:solidFill>
            <a:srgbClr val="14253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1394460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Aptos"/>
              </a:rPr>
              <a:t>TLC Expert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55648"/>
            <a:ext cx="1600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824228"/>
            <a:ext cx="147218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1C2026"/>
                </a:solidFill>
                <a:latin typeface="Aptos"/>
              </a:rPr>
              <a:t>Starting 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1755648"/>
            <a:ext cx="4892040" cy="429768"/>
          </a:xfrm>
          <a:prstGeom prst="rect">
            <a:avLst/>
          </a:prstGeom>
          <a:solidFill>
            <a:srgbClr val="E8F3FC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67127" y="1824228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Searches repo and infers context from scratch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59" y="1755648"/>
            <a:ext cx="4892040" cy="429768"/>
          </a:xfrm>
          <a:prstGeom prst="rect">
            <a:avLst/>
          </a:prstGeom>
          <a:solidFill>
            <a:srgbClr val="E8F6E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1824228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Starts with TLC source order, SAS tree, anchor WREQs, and known simulator gaps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85415"/>
            <a:ext cx="1600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253996"/>
            <a:ext cx="147218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1C2026"/>
                </a:solidFill>
                <a:latin typeface="Aptos"/>
              </a:rPr>
              <a:t>Feature proposal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2185415"/>
            <a:ext cx="4892040" cy="429768"/>
          </a:xfrm>
          <a:prstGeom prst="rect">
            <a:avLst/>
          </a:prstGeom>
          <a:solidFill>
            <a:srgbClr val="E8F3FC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67127" y="2253996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Correct high-level idea: add PBO/TPC logic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59" y="2185415"/>
            <a:ext cx="4892040" cy="429768"/>
          </a:xfrm>
          <a:prstGeom prst="rect">
            <a:avLst/>
          </a:prstGeom>
          <a:solidFill>
            <a:srgbClr val="E8F6E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9168" y="2253996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Concrete design: per-STA PBO state, TPC_SEARCH/TPC_SETTLE, SNR-shift vs rate-cap modes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615184"/>
            <a:ext cx="1600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683764"/>
            <a:ext cx="147218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1C2026"/>
                </a:solidFill>
                <a:latin typeface="Aptos"/>
              </a:rPr>
              <a:t>Tradeoffs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2615184"/>
            <a:ext cx="4892040" cy="429768"/>
          </a:xfrm>
          <a:prstGeom prst="rect">
            <a:avLst/>
          </a:prstGeom>
          <a:solidFill>
            <a:srgbClr val="E8F3FC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67127" y="2683764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Mentions accuracy depends on power/PER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5159" y="2615184"/>
            <a:ext cx="4892040" cy="429768"/>
          </a:xfrm>
          <a:prstGeom prst="rect">
            <a:avLst/>
          </a:prstGeom>
          <a:solidFill>
            <a:srgbClr val="E8F6E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9168" y="2683764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Separates prototype vs high-fidelity model and states when measured PER-vs-PBO is required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044952"/>
            <a:ext cx="1600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113532"/>
            <a:ext cx="147218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1C2026"/>
                </a:solidFill>
                <a:latin typeface="Aptos"/>
              </a:rPr>
              <a:t>Dependencies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3120" y="3044952"/>
            <a:ext cx="4892040" cy="429768"/>
          </a:xfrm>
          <a:prstGeom prst="rect">
            <a:avLst/>
          </a:prstGeom>
          <a:solidFill>
            <a:srgbClr val="E8F3FC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67127" y="3113532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Broad modules: TLC, emulator, PER LUT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59" y="3044952"/>
            <a:ext cx="4892040" cy="429768"/>
          </a:xfrm>
          <a:prstGeom prst="rect">
            <a:avLst/>
          </a:prstGeom>
          <a:solidFill>
            <a:srgbClr val="E8F6E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59168" y="3113532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Specific integration points: tlcsim/tlc.py, emulator.py, per_model.py, LUT metadata, harness knobs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474720"/>
            <a:ext cx="1600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543300"/>
            <a:ext cx="147218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1C2026"/>
                </a:solidFill>
                <a:latin typeface="Aptos"/>
              </a:rPr>
              <a:t>Conflict handling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3474720"/>
            <a:ext cx="4892040" cy="429768"/>
          </a:xfrm>
          <a:prstGeom prst="rect">
            <a:avLst/>
          </a:prstGeom>
          <a:solidFill>
            <a:srgbClr val="E8F3FC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67127" y="3543300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May not notice code vs JIRA drift unless prompted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5159" y="3474720"/>
            <a:ext cx="4892040" cy="429768"/>
          </a:xfrm>
          <a:prstGeom prst="rect">
            <a:avLst/>
          </a:prstGeom>
          <a:solidFill>
            <a:srgbClr val="E8F6E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9168" y="3543300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Required to prefer code, name the WREQ, classify conflict, and check silicon/delta scope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904487"/>
            <a:ext cx="1600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3973068"/>
            <a:ext cx="147218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1C2026"/>
                </a:solidFill>
                <a:latin typeface="Aptos"/>
              </a:rPr>
              <a:t>Prompt iterations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03120" y="3904487"/>
            <a:ext cx="4892040" cy="429768"/>
          </a:xfrm>
          <a:prstGeom prst="rect">
            <a:avLst/>
          </a:prstGeom>
          <a:solidFill>
            <a:srgbClr val="E8F3FC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67127" y="3973068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~3-5 likely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95159" y="3904487"/>
            <a:ext cx="4892040" cy="429768"/>
          </a:xfrm>
          <a:prstGeom prst="rect">
            <a:avLst/>
          </a:prstGeom>
          <a:solidFill>
            <a:srgbClr val="E8F6E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59168" y="3973068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~2-4 likely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334256"/>
            <a:ext cx="1600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4402836"/>
            <a:ext cx="147218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1C2026"/>
                </a:solidFill>
                <a:latin typeface="Aptos"/>
              </a:rPr>
              <a:t>Solution quality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03120" y="4334256"/>
            <a:ext cx="4892040" cy="429768"/>
          </a:xfrm>
          <a:prstGeom prst="rect">
            <a:avLst/>
          </a:prstGeom>
          <a:solidFill>
            <a:srgbClr val="E8F3FC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67127" y="4402836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Good direction, needs domain review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95159" y="4334256"/>
            <a:ext cx="4892040" cy="429768"/>
          </a:xfrm>
          <a:prstGeom prst="rect">
            <a:avLst/>
          </a:prstGeom>
          <a:solidFill>
            <a:srgbClr val="E8F6E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59168" y="4402836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Decision-ready proposal with risks, source basis, and quality boundaries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764024"/>
            <a:ext cx="1600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4832604"/>
            <a:ext cx="147218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1C2026"/>
                </a:solidFill>
                <a:latin typeface="Aptos"/>
              </a:rPr>
              <a:t>Manager value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03120" y="4764024"/>
            <a:ext cx="4892040" cy="429768"/>
          </a:xfrm>
          <a:prstGeom prst="rect">
            <a:avLst/>
          </a:prstGeom>
          <a:solidFill>
            <a:srgbClr val="E8F3FC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67127" y="4832604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Helpful assistant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95159" y="4764024"/>
            <a:ext cx="4892040" cy="429768"/>
          </a:xfrm>
          <a:prstGeom prst="rect">
            <a:avLst/>
          </a:prstGeom>
          <a:solidFill>
            <a:srgbClr val="E8F6EF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59168" y="4832604"/>
            <a:ext cx="4764024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1C2026"/>
                </a:solidFill>
                <a:latin typeface="Aptos"/>
              </a:rPr>
              <a:t>Reusable engineering accelerator for TLC decisions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5742432"/>
            <a:ext cx="5394960" cy="621792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E289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5879592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4253F"/>
                </a:solidFill>
                <a:latin typeface="Aptos"/>
              </a:rPr>
              <a:t>Fair conclusion: the generic LLM found the direction; the TLC Expert reduced ambiguity and made the answer actionable.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09360" y="5742432"/>
            <a:ext cx="5212080" cy="621792"/>
          </a:xfrm>
          <a:prstGeom prst="roundRect">
            <a:avLst/>
          </a:prstGeom>
          <a:solidFill>
            <a:srgbClr val="F0F6FA"/>
          </a:solidFill>
          <a:ln w="12700">
            <a:solidFill>
              <a:srgbClr val="2B84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37960" y="5879592"/>
            <a:ext cx="47548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2B845A"/>
                </a:solidFill>
                <a:latin typeface="Aptos"/>
              </a:rPr>
              <a:t>Added value is repeatability: same TLC reasoning rules applied every time, without re-teaching the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
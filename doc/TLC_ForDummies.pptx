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2194560"/>
          </a:xfrm>
          <a:prstGeom prst="rect">
            <a:avLst/>
          </a:prstGeom>
          <a:solidFill>
            <a:srgbClr val="007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1460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>
                <a:solidFill>
                  <a:srgbClr val="FFFFFF"/>
                </a:solidFill>
                <a:latin typeface="Segoe UI"/>
              </a:rPr>
              <a:t>TLC for Dummies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118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D6E9F9"/>
                </a:solidFill>
                <a:latin typeface="Segoe UI"/>
              </a:rPr>
              <a:t>How WiFi firmware picks the fastest reliable speed — in plain English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9FB4CC"/>
                </a:solidFill>
                <a:latin typeface="Segoe UI"/>
              </a:rPr>
              <a:t>Transmit Link Control • Rate Scale Manager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What is TLC?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6E9F9"/>
                </a:solidFill>
                <a:latin typeface="Segoe UI"/>
              </a:rPr>
              <a:t>Think of a driver choosing a gear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67665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0071C5"/>
                </a:solidFill>
                <a:latin typeface="Segoe UI"/>
              </a:rPr>
              <a:t>The problem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  <a:latin typeface="Segoe UI"/>
              </a:rPr>
              <a:t>WiFi can send data at many speeds. Fast speeds need a clean, strong signal. If the signal is weak, fast data gets lost and must be re-sent — which is slower.</a:t>
            </a:r>
          </a:p>
          <a:p>
            <a:pPr algn="l">
              <a:spcAft>
                <a:spcPts val="800"/>
              </a:spcAft>
            </a:pPr>
            <a:r>
              <a:rPr sz="800" b="0">
                <a:solidFill>
                  <a:srgbClr val="1F2A44"/>
                </a:solidFill>
                <a:latin typeface="Segoe U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0071C5"/>
                </a:solidFill>
                <a:latin typeface="Segoe UI"/>
              </a:rPr>
              <a:t>What TLC does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  <a:latin typeface="Segoe UI"/>
              </a:rPr>
              <a:t>TLC is the “auto gearbox” of WiFi. It constantly watches how many packets get through and shifts the speed up or down to stay fast AND reliable.</a:t>
            </a:r>
          </a:p>
          <a:p>
            <a:pPr algn="l">
              <a:spcAft>
                <a:spcPts val="800"/>
              </a:spcAft>
            </a:pPr>
            <a:r>
              <a:rPr sz="800" b="0">
                <a:solidFill>
                  <a:srgbClr val="1F2A44"/>
                </a:solidFill>
                <a:latin typeface="Segoe U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2E8B57"/>
                </a:solidFill>
                <a:latin typeface="Segoe UI"/>
              </a:rPr>
              <a:t>The golden rule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A44"/>
                </a:solidFill>
                <a:latin typeface="Segoe UI"/>
              </a:rPr>
              <a:t>Send as fast as possible — but only as fast as the link can reliably carry.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371600"/>
            <a:ext cx="4114800" cy="4754880"/>
          </a:xfrm>
          <a:prstGeom prst="roundRect">
            <a:avLst/>
          </a:prstGeom>
          <a:solidFill>
            <a:srgbClr val="EAF3FB"/>
          </a:solidFill>
          <a:ln w="19050">
            <a:solidFill>
              <a:srgbClr val="007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3749039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A44"/>
                </a:solidFill>
                <a:latin typeface="Segoe UI"/>
              </a:rPr>
              <a:t>🚗  Driving analogy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1F2A44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E8B57"/>
                </a:solidFill>
                <a:latin typeface="Segoe UI"/>
              </a:rPr>
              <a:t>Open road (strong signal)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A44"/>
                </a:solidFill>
                <a:latin typeface="Segoe UI"/>
              </a:rPr>
              <a:t>→ high gear, go fast (high MCS, MIMO)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1F2A44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E8820C"/>
                </a:solidFill>
                <a:latin typeface="Segoe UI"/>
              </a:rPr>
              <a:t>Traffic / hills (weak signal)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A44"/>
                </a:solidFill>
                <a:latin typeface="Segoe UI"/>
              </a:rPr>
              <a:t>→ low gear, stay safe (low MCS, SISO)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1F2A44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C0392B"/>
                </a:solidFill>
                <a:latin typeface="Segoe UI"/>
              </a:rPr>
              <a:t>Skidding (packets lost)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A44"/>
                </a:solidFill>
                <a:latin typeface="Segoe UI"/>
              </a:rPr>
              <a:t>→ shift down immediately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Who does what?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6E9F9"/>
                </a:solidFill>
                <a:latin typeface="Segoe UI"/>
              </a:rPr>
              <a:t>Four layers working together</a:t>
            </a:r>
          </a:p>
        </p:txBody>
      </p:sp>
      <p:pic>
        <p:nvPicPr>
          <p:cNvPr id="5" name="Picture 4" descr="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583680" cy="40295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371600"/>
            <a:ext cx="44805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71C5"/>
                </a:solidFill>
                <a:latin typeface="Segoe UI"/>
              </a:rPr>
              <a:t>Driver</a:t>
            </a:r>
            <a:r>
              <a:rPr sz="1600" b="0">
                <a:solidFill>
                  <a:srgbClr val="1F2A44"/>
                </a:solidFill>
                <a:latin typeface="Segoe UI"/>
              </a:rPr>
              <a:t> — tells TLC what the device can do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1F2A44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0071C5"/>
                </a:solidFill>
                <a:latin typeface="Segoe UI"/>
              </a:rPr>
              <a:t>Upper MAC (the brain)</a:t>
            </a:r>
            <a:r>
              <a:rPr sz="1600" b="0">
                <a:solidFill>
                  <a:srgbClr val="1F2A44"/>
                </a:solidFill>
                <a:latin typeface="Segoe UI"/>
              </a:rPr>
              <a:t> — decides the speed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1F2A44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2E8B57"/>
                </a:solidFill>
                <a:latin typeface="Segoe UI"/>
              </a:rPr>
              <a:t>Lower MAC</a:t>
            </a:r>
            <a:r>
              <a:rPr sz="1600" b="0">
                <a:solidFill>
                  <a:srgbClr val="1F2A44"/>
                </a:solidFill>
                <a:latin typeface="Segoe UI"/>
              </a:rPr>
              <a:t> — applies the speed &amp; counts wins/losses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1F2A44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E8820C"/>
                </a:solidFill>
                <a:latin typeface="Segoe UI"/>
              </a:rPr>
              <a:t>PHY / Radio</a:t>
            </a:r>
            <a:r>
              <a:rPr sz="1600" b="0">
                <a:solidFill>
                  <a:srgbClr val="1F2A44"/>
                </a:solidFill>
                <a:latin typeface="Segoe UI"/>
              </a:rPr>
              <a:t> — actually transmits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1F2A44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555555"/>
                </a:solidFill>
                <a:latin typeface="Segoe UI"/>
              </a:rPr>
              <a:t>Control flows down ⬇, results flow back up ⬆.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The magic: a feedback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6E9F9"/>
                </a:solidFill>
                <a:latin typeface="Segoe UI"/>
              </a:rPr>
              <a:t>Try → Measure → Adjust → repeat</a:t>
            </a:r>
          </a:p>
        </p:txBody>
      </p:sp>
      <p:pic>
        <p:nvPicPr>
          <p:cNvPr id="5" name="Picture 4" descr="feed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463040"/>
            <a:ext cx="9601200" cy="41486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21208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A44"/>
                </a:solidFill>
                <a:latin typeface="Segoe UI"/>
              </a:rPr>
              <a:t>Every time a batch of packets is sent, TLC checks how many were acknowledged, recalculates the </a:t>
            </a:r>
            <a:r>
              <a:rPr sz="1800" b="1">
                <a:solidFill>
                  <a:srgbClr val="2E8B57"/>
                </a:solidFill>
                <a:latin typeface="Segoe UI"/>
              </a:rPr>
              <a:t>Success Ratio</a:t>
            </a:r>
            <a:r>
              <a:rPr sz="1800" b="0">
                <a:solidFill>
                  <a:srgbClr val="1F2A44"/>
                </a:solidFill>
                <a:latin typeface="Segoe UI"/>
              </a:rPr>
              <a:t>, and re-tunes the next transmission. This repeats thousands of times per second.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What TLC watches (Inputs)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6E9F9"/>
                </a:solidFill>
                <a:latin typeface="Segoe UI"/>
              </a:rPr>
              <a:t>Mostly one number rules them 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11064240" cy="1737360"/>
          </a:xfrm>
          <a:prstGeom prst="roundRect">
            <a:avLst/>
          </a:prstGeom>
          <a:solidFill>
            <a:srgbClr val="EAF3FB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E8B57"/>
                </a:solidFill>
                <a:latin typeface="Segoe UI"/>
              </a:rPr>
              <a:t>⭐ Success Ratio (SR)</a:t>
            </a:r>
            <a:r>
              <a:rPr sz="1800" b="0">
                <a:solidFill>
                  <a:srgbClr val="1F2A44"/>
                </a:solidFill>
                <a:latin typeface="Segoe UI"/>
              </a:rPr>
              <a:t>  = packets acknowledged ÷ packets sent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A44"/>
                </a:solidFill>
                <a:latin typeface="Segoe UI"/>
              </a:rPr>
              <a:t>Like a mail carrier tracking “how many letters were delivered vs. sent.” High SR = link is healthy = try faster. Low SR = slow down.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383280"/>
            <a:ext cx="2606040" cy="1371600"/>
          </a:xfrm>
          <a:prstGeom prst="roundRect">
            <a:avLst/>
          </a:prstGeom>
          <a:solidFill>
            <a:srgbClr val="EAF3FB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493008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555555"/>
                </a:solidFill>
                <a:latin typeface="Segoe UI"/>
              </a:rPr>
              <a:t>Success Ratio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2423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E8B57"/>
                </a:solidFill>
                <a:latin typeface="Segoe UI"/>
              </a:rPr>
              <a:t>0-100%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00600"/>
            <a:ext cx="2606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Segoe UI"/>
              </a:rPr>
              <a:t>how many got through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46704" y="3383280"/>
            <a:ext cx="2606040" cy="1371600"/>
          </a:xfrm>
          <a:prstGeom prst="roundRect">
            <a:avLst/>
          </a:prstGeom>
          <a:solidFill>
            <a:srgbClr val="EAF3FB"/>
          </a:solidFill>
          <a:ln w="19050">
            <a:solidFill>
              <a:srgbClr val="E88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38144" y="3493008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555555"/>
                </a:solidFill>
                <a:latin typeface="Segoe UI"/>
              </a:rPr>
              <a:t>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8144" y="3840480"/>
            <a:ext cx="2423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E8820C"/>
                </a:solidFill>
                <a:latin typeface="Segoe UI"/>
              </a:rPr>
              <a:t>= 100% - SR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6704" y="4800600"/>
            <a:ext cx="2606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Segoe UI"/>
              </a:rPr>
              <a:t>how many were lost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3383280"/>
            <a:ext cx="2606040" cy="1371600"/>
          </a:xfrm>
          <a:prstGeom prst="roundRect">
            <a:avLst/>
          </a:prstGeom>
          <a:solidFill>
            <a:srgbClr val="EAF3FB"/>
          </a:solidFill>
          <a:ln w="19050">
            <a:solidFill>
              <a:srgbClr val="007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3493008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555555"/>
                </a:solidFill>
                <a:latin typeface="Segoe UI"/>
              </a:rPr>
              <a:t>RSSI / SNR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3840480"/>
            <a:ext cx="2423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0071C5"/>
                </a:solidFill>
                <a:latin typeface="Segoe UI"/>
              </a:rPr>
              <a:t>signal strength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4768" y="4800600"/>
            <a:ext cx="2606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Segoe UI"/>
              </a:rPr>
              <a:t>helps pick a start speed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42832" y="3383280"/>
            <a:ext cx="2606040" cy="1371600"/>
          </a:xfrm>
          <a:prstGeom prst="roundRect">
            <a:avLst/>
          </a:prstGeom>
          <a:solidFill>
            <a:srgbClr val="EAF3FB"/>
          </a:solidFill>
          <a:ln w="190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34272" y="3493008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555555"/>
                </a:solidFill>
                <a:latin typeface="Segoe UI"/>
              </a:rPr>
              <a:t>Timers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3840480"/>
            <a:ext cx="2423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F2A44"/>
                </a:solidFill>
                <a:latin typeface="Segoe UI"/>
              </a:rPr>
              <a:t>~10 s idle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4800600"/>
            <a:ext cx="2606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Segoe UI"/>
              </a:rPr>
              <a:t>re-check even when quiet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55555"/>
                </a:solidFill>
                <a:latin typeface="Segoe UI"/>
              </a:rPr>
              <a:t>Refresh: every ~20 packets normally; only every ~2000 once locked on the best speed (saves power).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What TLC decides (Outputs)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6E9F9"/>
                </a:solidFill>
                <a:latin typeface="Segoe UI"/>
              </a:rPr>
              <a:t>The recipe for each transmission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5204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27048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071C5"/>
                </a:solidFill>
                <a:latin typeface="Segoe UI"/>
              </a:rPr>
              <a:t>Speed (MCS)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75688"/>
            <a:ext cx="3246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A44"/>
                </a:solidFill>
                <a:latin typeface="Segoe UI"/>
              </a:rPr>
              <a:t>how dense the data 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417320"/>
            <a:ext cx="35204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527048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E8B57"/>
                </a:solidFill>
                <a:latin typeface="Segoe UI"/>
              </a:rPr>
              <a:t>Streams (NSS)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075688"/>
            <a:ext cx="3246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A44"/>
                </a:solidFill>
                <a:latin typeface="Segoe UI"/>
              </a:rPr>
              <a:t>1 lane (SISO) or 2 (MIMO)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417320"/>
            <a:ext cx="35204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527048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071C5"/>
                </a:solidFill>
                <a:latin typeface="Segoe UI"/>
              </a:rPr>
              <a:t>Bandwidth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075688"/>
            <a:ext cx="3246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A44"/>
                </a:solidFill>
                <a:latin typeface="Segoe UI"/>
              </a:rPr>
              <a:t>20 - 320 MHz road width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17520"/>
            <a:ext cx="35204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8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127248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8820C"/>
                </a:solidFill>
                <a:latin typeface="Segoe UI"/>
              </a:rPr>
              <a:t>Guard Interval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75887"/>
            <a:ext cx="3246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A44"/>
                </a:solidFill>
                <a:latin typeface="Segoe UI"/>
              </a:rPr>
              <a:t>gap between symbols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3017520"/>
            <a:ext cx="35204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3127248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E8B57"/>
                </a:solidFill>
                <a:latin typeface="Segoe UI"/>
              </a:rPr>
              <a:t>TX Power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675887"/>
            <a:ext cx="3246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A44"/>
                </a:solidFill>
                <a:latin typeface="Segoe UI"/>
              </a:rPr>
              <a:t>turn down when close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3017520"/>
            <a:ext cx="35204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3127248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071C5"/>
                </a:solidFill>
                <a:latin typeface="Segoe UI"/>
              </a:rPr>
              <a:t>Aggregation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3675887"/>
            <a:ext cx="3246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A44"/>
                </a:solidFill>
                <a:latin typeface="Segoe UI"/>
              </a:rPr>
              <a:t>bundle packets together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4632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A44"/>
                </a:solidFill>
                <a:latin typeface="Segoe UI"/>
              </a:rPr>
              <a:t>All of these are packed into one number called </a:t>
            </a:r>
            <a:r>
              <a:rPr sz="1700" b="1">
                <a:solidFill>
                  <a:srgbClr val="0071C5"/>
                </a:solidFill>
                <a:latin typeface="Segoe UI"/>
              </a:rPr>
              <a:t>rate_n_flags</a:t>
            </a:r>
            <a:r>
              <a:rPr sz="1700" b="0">
                <a:solidFill>
                  <a:srgbClr val="1F2A44"/>
                </a:solidFill>
                <a:latin typeface="Segoe UI"/>
              </a:rPr>
              <a:t> that the radio understands, plus a </a:t>
            </a:r>
            <a:r>
              <a:rPr sz="1700" b="1">
                <a:solidFill>
                  <a:srgbClr val="2E8B57"/>
                </a:solidFill>
                <a:latin typeface="Segoe UI"/>
              </a:rPr>
              <a:t>retry table</a:t>
            </a:r>
            <a:r>
              <a:rPr sz="1700" b="0">
                <a:solidFill>
                  <a:srgbClr val="1F2A44"/>
                </a:solidFill>
                <a:latin typeface="Segoe UI"/>
              </a:rPr>
              <a:t> (plan B, C, D…).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Plan B, C, D… the Retry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6E9F9"/>
                </a:solidFill>
                <a:latin typeface="Segoe UI"/>
              </a:rPr>
              <a:t>If the fast speed fails, fall back instantly</a:t>
            </a:r>
          </a:p>
        </p:txBody>
      </p:sp>
      <p:pic>
        <p:nvPicPr>
          <p:cNvPr id="5" name="Picture 4" descr="r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371600"/>
            <a:ext cx="6400800" cy="3242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554480"/>
            <a:ext cx="36576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071C5"/>
                </a:solidFill>
                <a:latin typeface="Segoe UI"/>
              </a:rPr>
              <a:t>Why?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A44"/>
                </a:solidFill>
                <a:latin typeface="Segoe UI"/>
              </a:rPr>
              <a:t>If the best speed fails for a packet, the radio doesn’t give up — it instantly retries at a slower, safer speed.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1F2A44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E8B57"/>
                </a:solidFill>
                <a:latin typeface="Segoe UI"/>
              </a:rPr>
              <a:t>Top of ladder</a:t>
            </a:r>
            <a:r>
              <a:rPr sz="1500" b="0">
                <a:solidFill>
                  <a:srgbClr val="1F2A44"/>
                </a:solidFill>
                <a:latin typeface="Segoe UI"/>
              </a:rPr>
              <a:t> = fastest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E8820C"/>
                </a:solidFill>
                <a:latin typeface="Segoe UI"/>
              </a:rPr>
              <a:t>Bottom of ladder</a:t>
            </a:r>
            <a:r>
              <a:rPr sz="1500" b="0">
                <a:solidFill>
                  <a:srgbClr val="1F2A44"/>
                </a:solidFill>
                <a:latin typeface="Segoe UI"/>
              </a:rPr>
              <a:t> = most robust (legacy)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1F2A44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Segoe UI"/>
              </a:rPr>
              <a:t>This keeps data moving even during a quick fade, before the algorithm reacts.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TLC's three moods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6E9F9"/>
                </a:solidFill>
                <a:latin typeface="Segoe UI"/>
              </a:rPr>
              <a:t>Cruise • Explore • Save power</a:t>
            </a:r>
          </a:p>
        </p:txBody>
      </p:sp>
      <p:pic>
        <p:nvPicPr>
          <p:cNvPr id="5" name="Picture 4" descr="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371600"/>
            <a:ext cx="9601200" cy="3911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4846320"/>
            <a:ext cx="356616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956048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071C5"/>
                </a:solidFill>
                <a:latin typeface="Segoe UI"/>
              </a:rPr>
              <a:t>STAY (cruise)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468112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A44"/>
                </a:solidFill>
                <a:latin typeface="Segoe UI"/>
              </a:rPr>
              <a:t>Happy on a proven speed. Small nudges up or down.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4846320"/>
            <a:ext cx="356616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4956048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E8B57"/>
                </a:solidFill>
                <a:latin typeface="Segoe UI"/>
              </a:rPr>
              <a:t>SEARCH (explore)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5468112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A44"/>
                </a:solidFill>
                <a:latin typeface="Segoe UI"/>
              </a:rPr>
              <a:t>Curious — tries other speeds/widths to find something better.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3" y="4846320"/>
            <a:ext cx="356616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8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8744" y="4956048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E8820C"/>
                </a:solidFill>
                <a:latin typeface="Segoe UI"/>
              </a:rPr>
              <a:t>TPC (save power)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5468112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A44"/>
                </a:solidFill>
                <a:latin typeface="Segoe UI"/>
              </a:rPr>
              <a:t>At top speed already — now trims TX power to save energy.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Faster settings = more throughput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6E9F9"/>
                </a:solidFill>
                <a:latin typeface="Segoe UI"/>
              </a:rPr>
              <a:t>Real firmware numbers (HE, 80 MHz)</a:t>
            </a:r>
          </a:p>
        </p:txBody>
      </p:sp>
      <p:pic>
        <p:nvPicPr>
          <p:cNvPr id="5" name="Picture 4" descr="tp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43128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66928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A44"/>
                </a:solidFill>
                <a:latin typeface="Segoe UI"/>
              </a:rPr>
              <a:t>Higher MCS and 2 streams (MIMO) roughly double the speed — but need a cleaner signal. TLC climbs this chart only as far as the link allows.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Cheat sheet: the numbers that matter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749808"/>
          </a:xfrm>
          <a:prstGeom prst="roundRect">
            <a:avLst/>
          </a:prstGeom>
          <a:solidFill>
            <a:srgbClr val="EAF3FB"/>
          </a:solidFill>
          <a:ln w="19050">
            <a:solidFill>
              <a:srgbClr val="007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26464"/>
            <a:ext cx="2377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071C5"/>
                </a:solidFill>
                <a:latin typeface="Segoe UI"/>
              </a:rPr>
              <a:t>95%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426464"/>
            <a:ext cx="7863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A44"/>
                </a:solidFill>
                <a:latin typeface="Segoe UI"/>
              </a:rPr>
              <a:t>“Perfect” success ratio — above this, never slow down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1069848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49424"/>
            <a:ext cx="2377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071C5"/>
                </a:solidFill>
                <a:latin typeface="Segoe UI"/>
              </a:rPr>
              <a:t>90% / 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249424"/>
            <a:ext cx="7863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A44"/>
                </a:solidFill>
                <a:latin typeface="Segoe UI"/>
              </a:rPr>
              <a:t>No-decrease / force-decrease thresholds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10698480" cy="749808"/>
          </a:xfrm>
          <a:prstGeom prst="roundRect">
            <a:avLst/>
          </a:prstGeom>
          <a:solidFill>
            <a:srgbClr val="EAF3FB"/>
          </a:solidFill>
          <a:ln w="19050">
            <a:solidFill>
              <a:srgbClr val="007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72384"/>
            <a:ext cx="2377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071C5"/>
                </a:solidFill>
                <a:latin typeface="Segoe UI"/>
              </a:rPr>
              <a:t>94% / 50%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072384"/>
            <a:ext cx="7863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A44"/>
                </a:solidFill>
                <a:latin typeface="Segoe UI"/>
              </a:rPr>
              <a:t>Turn A-MSDU bundling on / off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069848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95344"/>
            <a:ext cx="2377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071C5"/>
                </a:solidFill>
                <a:latin typeface="Segoe UI"/>
              </a:rPr>
              <a:t>200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895344"/>
            <a:ext cx="7863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A44"/>
                </a:solidFill>
                <a:latin typeface="Segoe UI"/>
              </a:rPr>
              <a:t>Minimum time between speed-up attempts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63440"/>
            <a:ext cx="10698480" cy="749808"/>
          </a:xfrm>
          <a:prstGeom prst="roundRect">
            <a:avLst/>
          </a:prstGeom>
          <a:solidFill>
            <a:srgbClr val="EAF3FB"/>
          </a:solidFill>
          <a:ln w="19050">
            <a:solidFill>
              <a:srgbClr val="007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718304"/>
            <a:ext cx="2377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071C5"/>
                </a:solidFill>
                <a:latin typeface="Segoe UI"/>
              </a:rPr>
              <a:t>20 → 2000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718304"/>
            <a:ext cx="7863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A44"/>
                </a:solidFill>
                <a:latin typeface="Segoe UI"/>
              </a:rPr>
              <a:t>Packets between checks (normal → locked on best)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486400"/>
            <a:ext cx="1069848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541264"/>
            <a:ext cx="2377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071C5"/>
                </a:solidFill>
                <a:latin typeface="Segoe UI"/>
              </a:rPr>
              <a:t>2 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5541264"/>
            <a:ext cx="7863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A44"/>
                </a:solidFill>
                <a:latin typeface="Segoe UI"/>
              </a:rPr>
              <a:t>Power back-off step when saving energy (TPC)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19202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6984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🎮  Now play with 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663440"/>
            <a:ext cx="106984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Segoe UI"/>
              </a:rPr>
              <a:t>Open </a:t>
            </a:r>
            <a:r>
              <a:rPr sz="2200" b="1">
                <a:solidFill>
                  <a:srgbClr val="BFFFBF"/>
                </a:solidFill>
                <a:latin typeface="Segoe UI"/>
              </a:rPr>
              <a:t>tlc_playground.html</a:t>
            </a:r>
            <a:r>
              <a:rPr sz="2200" b="0">
                <a:solidFill>
                  <a:srgbClr val="FFFFFF"/>
                </a:solidFill>
                <a:latin typeface="Segoe UI"/>
              </a:rPr>
              <a:t> in any browser.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D6F0DE"/>
                </a:solidFill>
                <a:latin typeface="Segoe UI"/>
              </a:rPr>
              <a:t>Drag the signal-quality slider and watch TLC choose the speed, width, streams, power and retry ladder — live.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